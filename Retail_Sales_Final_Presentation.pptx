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0B1320"/>
          </a:solidFill>
          <a:ln w="12700">
            <a:solidFill>
              <a:srgbClr val="0B132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874520"/>
            <a:ext cx="5669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Retail Sales &amp; Profit Analysis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822960" y="2542032"/>
            <a:ext cx="5303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4E78"/>
                </a:solidFill>
              </a:rPr>
              <a:t>Final Internship Project Submission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45720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Mentor: Tarun Kumar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Prepared by: Nithin Medipelly</a:t>
            </a:r>
            <a:endParaRPr lang="en-US" sz="1300" dirty="0"/>
          </a:p>
        </p:txBody>
      </p:sp>
      <p:pic>
        <p:nvPicPr>
          <p:cNvPr id="7" name="Image 0" descr="/mnt/data/Retail_Sales_Final_Project/Dashboard_Screenshots/Retail_Sales_Dashboard_Over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20840" y="1325880"/>
            <a:ext cx="4709160" cy="393192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4406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Cleaned data | KPI analysis | Dashboard | Business insights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Project Objective &amp; Workflow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From raw retail orders to mentor-ready insights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1325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Objective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94360" y="1737360"/>
            <a:ext cx="466344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111827"/>
                </a:solidFill>
              </a:rPr>
              <a:t>Analyze retail sales performance, clean the dataset, calculate KPIs, identify business trends, and build a dashboard-ready submission package.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446520" y="1325880"/>
            <a:ext cx="2560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Workflow used</a:t>
            </a:r>
            <a:endParaRPr lang="en-US" sz="1900" dirty="0"/>
          </a:p>
        </p:txBody>
      </p:sp>
      <p:sp>
        <p:nvSpPr>
          <p:cNvPr id="8" name="Shape 6"/>
          <p:cNvSpPr/>
          <p:nvPr/>
        </p:nvSpPr>
        <p:spPr>
          <a:xfrm>
            <a:off x="6446520" y="1783080"/>
            <a:ext cx="3840480" cy="384048"/>
          </a:xfrm>
          <a:prstGeom prst="chevron">
            <a:avLst/>
          </a:prstGeom>
          <a:solidFill>
            <a:srgbClr val="1F4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56832" y="185623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Data Cleaning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446520" y="2514600"/>
            <a:ext cx="3840480" cy="384048"/>
          </a:xfrm>
          <a:prstGeom prst="chevron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56832" y="258775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KPI Calculation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446520" y="3246120"/>
            <a:ext cx="3840480" cy="384048"/>
          </a:xfrm>
          <a:prstGeom prst="chevron">
            <a:avLst/>
          </a:prstGeom>
          <a:solidFill>
            <a:srgbClr val="1F4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56832" y="331927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Business Analysis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3977640"/>
            <a:ext cx="3840480" cy="384048"/>
          </a:xfrm>
          <a:prstGeom prst="chevron">
            <a:avLst/>
          </a:prstGeom>
          <a:solidFill>
            <a:srgbClr val="3B82F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656832" y="405079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Dashboard Creation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46520" y="4709160"/>
            <a:ext cx="3840480" cy="384048"/>
          </a:xfrm>
          <a:prstGeom prst="chevron">
            <a:avLst/>
          </a:prstGeom>
          <a:solidFill>
            <a:srgbClr val="1F4E7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56832" y="4782312"/>
            <a:ext cx="32918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Final Report</a:t>
            </a:r>
            <a:endParaRPr lang="en-US" sz="1200" dirty="0"/>
          </a:p>
        </p:txBody>
      </p:sp>
      <p:pic>
        <p:nvPicPr>
          <p:cNvPr id="18" name="Image 0" descr="/mnt/data/Retail_Sales_Final_Project/Dashboard_Screenshots/sales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3246120"/>
            <a:ext cx="4800600" cy="2194560"/>
          </a:xfrm>
          <a:prstGeom prst="rect">
            <a:avLst/>
          </a:prstGeom>
        </p:spPr>
      </p:pic>
      <p:pic>
        <p:nvPicPr>
          <p:cNvPr id="19" name="Image 1" descr="/mnt/data/Retail_Sales_Final_Project/Dashboard_Screenshots/profit_by_categ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4709160"/>
            <a:ext cx="4389120" cy="1737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Data Cleaning Summary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Cleaning actions completed before analysis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371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F4E78"/>
                </a:solidFill>
              </a:rPr>
              <a:t>Cleaning Checklist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85800" y="1828800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Rows after cleaning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794760" y="1828800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</a:rPr>
              <a:t>8,399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58368" y="2176272"/>
            <a:ext cx="5532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85800" y="24505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Duplicates removed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794760" y="2450592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E7C66"/>
                </a:solidFill>
              </a:rPr>
              <a:t>0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58368" y="2798064"/>
            <a:ext cx="5532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85800" y="3072384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Missing Product Base Margin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794760" y="3072384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63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58368" y="3419856"/>
            <a:ext cx="5532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5800" y="3694176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Date fields standardized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794760" y="3694176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Order Date + Ship Date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58368" y="4041648"/>
            <a:ext cx="5532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85800" y="4315968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11827"/>
                </a:solidFill>
              </a:rPr>
              <a:t>Numeric fields formatted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3794760" y="4315968"/>
            <a:ext cx="24688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5309"/>
                </a:solidFill>
              </a:rPr>
              <a:t>Sales, Profit, Discount, Cost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58368" y="4663440"/>
            <a:ext cx="5532120" cy="0"/>
          </a:xfrm>
          <a:prstGeom prst="line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pic>
        <p:nvPicPr>
          <p:cNvPr id="21" name="Image 0" descr="/mnt/data/Retail_Sales_Final_Project/Dashboard_Screenshots/Excel_Dashboard_Previe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629400" y="1325880"/>
            <a:ext cx="4892040" cy="3977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85800" y="5349240"/>
            <a:ext cx="5577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Dates were unified and missing Product Base Margin values were filled using the median to preserve valid order records.</a:t>
            </a:r>
            <a:endParaRPr lang="en-US" sz="1400" dirty="0"/>
          </a:p>
        </p:txBody>
      </p:sp>
      <p:sp>
        <p:nvSpPr>
          <p:cNvPr id="23" name="Text 20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KPI Performance Overview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Core business metrics calculated from the cleaned dataset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12648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F4E78"/>
                </a:solidFill>
              </a:rPr>
              <a:t>$14,915,601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12648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Total Sales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807208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16936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E7C66"/>
                </a:solidFill>
              </a:rPr>
              <a:t>$1,521,768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916936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Total Profit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111496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221224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45309"/>
                </a:solidFill>
              </a:rPr>
              <a:t>5,496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221224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Total Orders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7415784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25512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</a:rPr>
              <a:t>4.97%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525512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Avg Discount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9720072" y="1417320"/>
            <a:ext cx="20574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1D5D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829800" y="15819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334155"/>
                </a:solidFill>
              </a:rPr>
              <a:t>$107,831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9829800" y="1947672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</a:rPr>
              <a:t>Shipping Cost</a:t>
            </a:r>
            <a:endParaRPr lang="en-US" sz="950" dirty="0"/>
          </a:p>
        </p:txBody>
      </p:sp>
      <p:pic>
        <p:nvPicPr>
          <p:cNvPr id="20" name="Image 0" descr="/mnt/data/Retail_Sales_Final_Project/Dashboard_Screenshots/monthly_sales_tren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2880360"/>
            <a:ext cx="5120640" cy="2423160"/>
          </a:xfrm>
          <a:prstGeom prst="rect">
            <a:avLst/>
          </a:prstGeom>
        </p:spPr>
      </p:pic>
      <p:pic>
        <p:nvPicPr>
          <p:cNvPr id="21" name="Image 1" descr="/mnt/data/Retail_Sales_Final_Project/Dashboard_Screenshots/sales_by_order_prior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2880360"/>
            <a:ext cx="4572000" cy="242316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Regional &amp; Product Insights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Where revenue and profit are concentrated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0" descr="/mnt/data/Retail_Sales_Final_Project/Dashboard_Screenshots/sales_by_reg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1325880"/>
            <a:ext cx="5166360" cy="2743200"/>
          </a:xfrm>
          <a:prstGeom prst="rect">
            <a:avLst/>
          </a:prstGeom>
        </p:spPr>
      </p:pic>
      <p:pic>
        <p:nvPicPr>
          <p:cNvPr id="6" name="Image 1" descr="/mnt/data/Retail_Sales_Final_Project/Dashboard_Screenshots/profit_by_categor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325880"/>
            <a:ext cx="4754880" cy="27432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49808" y="461772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F4E78"/>
                </a:solidFill>
              </a:rPr>
              <a:t>Highest sales region: West ($3,597,549)</a:t>
            </a:r>
            <a:endParaRPr lang="en-US" sz="1500" dirty="0"/>
          </a:p>
        </p:txBody>
      </p:sp>
      <p:sp>
        <p:nvSpPr>
          <p:cNvPr id="8" name="Text 4"/>
          <p:cNvSpPr/>
          <p:nvPr/>
        </p:nvSpPr>
        <p:spPr>
          <a:xfrm>
            <a:off x="6492240" y="461772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E7C66"/>
                </a:solidFill>
              </a:rPr>
              <a:t>Most profitable category: Technology ($886,314)</a:t>
            </a:r>
            <a:endParaRPr lang="en-US" sz="1500" dirty="0"/>
          </a:p>
        </p:txBody>
      </p:sp>
      <p:sp>
        <p:nvSpPr>
          <p:cNvPr id="9" name="Text 5"/>
          <p:cNvSpPr/>
          <p:nvPr/>
        </p:nvSpPr>
        <p:spPr>
          <a:xfrm>
            <a:off x="914400" y="5532120"/>
            <a:ext cx="10515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The analysis shows that sales concentration and profitability do not always tell the same story; therefore, region and category should be reviewed together.</a:t>
            </a:r>
            <a:endParaRPr lang="en-US" sz="1400" dirty="0"/>
          </a:p>
        </p:txBody>
      </p:sp>
      <p:sp>
        <p:nvSpPr>
          <p:cNvPr id="10" name="Text 6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Top Products &amp; Customer Segment Profit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Products drive revenue while segments explain profit contribution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pic>
        <p:nvPicPr>
          <p:cNvPr id="5" name="Image 0" descr="/mnt/data/Retail_Sales_Final_Project/Dashboard_Screenshots/top10_product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325880"/>
            <a:ext cx="5577840" cy="4251960"/>
          </a:xfrm>
          <a:prstGeom prst="rect">
            <a:avLst/>
          </a:prstGeom>
        </p:spPr>
      </p:pic>
      <p:pic>
        <p:nvPicPr>
          <p:cNvPr id="6" name="Image 1" descr="/mnt/data/Retail_Sales_Final_Project/Dashboard_Screenshots/profit_by_segmen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37960" y="1508760"/>
            <a:ext cx="4663440" cy="288036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29400" y="489204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1F4E78"/>
                </a:solidFill>
              </a:rPr>
              <a:t>Top revenue product: Global Troyª Executive Leather Low-Back Tilter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6629400" y="5440680"/>
            <a:ext cx="4389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400" b="1" dirty="0">
                <a:solidFill>
                  <a:srgbClr val="0E7C66"/>
                </a:solidFill>
              </a:rPr>
              <a:t>Most profitable segment: Corporate ($599,746)</a:t>
            </a:r>
            <a:endParaRPr lang="en-US" sz="1400" dirty="0"/>
          </a:p>
        </p:txBody>
      </p:sp>
      <p:sp>
        <p:nvSpPr>
          <p:cNvPr id="9" name="Text 5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556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0B1320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Answers, Recommendations &amp; Submission Files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30352" y="786384"/>
            <a:ext cx="10789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B7280"/>
                </a:solidFill>
              </a:rPr>
              <a:t>Final deliverables are packaged for mentor review</a:t>
            </a:r>
            <a:endParaRPr lang="en-US" sz="1050" dirty="0"/>
          </a:p>
        </p:txBody>
      </p:sp>
      <p:sp>
        <p:nvSpPr>
          <p:cNvPr id="4" name="Shape 2"/>
          <p:cNvSpPr/>
          <p:nvPr/>
        </p:nvSpPr>
        <p:spPr>
          <a:xfrm>
            <a:off x="502920" y="1078992"/>
            <a:ext cx="11064240" cy="0"/>
          </a:xfrm>
          <a:prstGeom prst="line">
            <a:avLst/>
          </a:prstGeom>
          <a:noFill/>
          <a:ln w="12700">
            <a:solidFill>
              <a:srgbClr val="D1D5D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Required Question Answers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777240" y="178308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1. Highest sales region: West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777240" y="225856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2. Most profitable category: Technology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777240" y="2734056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3. Highest revenue product: Global Troyª Executive Leather Low-Back Tilter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77240" y="3209544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4. Top profit segment: Corporate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77240" y="3685032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5. Peak sales month: 2010-09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6583680" y="1325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F4E78"/>
                </a:solidFill>
              </a:rPr>
              <a:t>Final Package Includes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6720840" y="178308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Cleaned dataset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6720840" y="2221992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Excel analysis workbook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6720840" y="2660904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Dashboard screenshots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6720840" y="3099816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Project report DOCX/PDF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6720840" y="3538728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Presentation PPTX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6720840" y="3977640"/>
            <a:ext cx="4389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11827"/>
                </a:solidFill>
              </a:rPr>
              <a:t>• Power BI build guide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777240" y="5166360"/>
            <a:ext cx="10241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320"/>
                </a:solidFill>
              </a:rPr>
              <a:t>Recommendation: focus on the top-performing region and most profitable category while reviewing discounts, shipping cost, and product-level margins.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9509760" y="651052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</a:rPr>
              <a:t>Retail Sales &amp; Profit Analysis | 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Internship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Retail Sales &amp; Profit Analysis - Final Project</dc:title>
  <dc:subject>Retail Sales &amp; Profit Analysis</dc:subject>
  <dc:creator>Nithin Medipelly</dc:creator>
  <cp:lastModifiedBy>Nithin Medipelly</cp:lastModifiedBy>
  <cp:revision>1</cp:revision>
  <dcterms:created xsi:type="dcterms:W3CDTF">2026-06-30T04:58:06Z</dcterms:created>
  <dcterms:modified xsi:type="dcterms:W3CDTF">2026-06-30T04:58:06Z</dcterms:modified>
</cp:coreProperties>
</file>